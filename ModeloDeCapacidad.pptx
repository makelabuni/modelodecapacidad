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BAU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Hoy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  <c:pt idx="6">
                    <c:v>Q6</c:v>
                  </c:pt>
                  <c:pt idx="7">
                    <c:v>Q7</c:v>
                  </c:pt>
                  <c:pt idx="8">
                    <c:v>Q8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3.96</c:v>
                </c:pt>
                <c:pt idx="1">
                  <c:v>4.24</c:v>
                </c:pt>
                <c:pt idx="2">
                  <c:v>4.53</c:v>
                </c:pt>
                <c:pt idx="3">
                  <c:v>4.81</c:v>
                </c:pt>
                <c:pt idx="4">
                  <c:v>5.09</c:v>
                </c:pt>
                <c:pt idx="5">
                  <c:v>5.37</c:v>
                </c:pt>
                <c:pt idx="6">
                  <c:v>5.66</c:v>
                </c:pt>
                <c:pt idx="7">
                  <c:v>5.94</c:v>
                </c:pt>
                <c:pt idx="8">
                  <c:v>6.22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Normativo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Hoy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  <c:pt idx="6">
                    <c:v>Q6</c:v>
                  </c:pt>
                  <c:pt idx="7">
                    <c:v>Q7</c:v>
                  </c:pt>
                  <c:pt idx="8">
                    <c:v>Q8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Estratégico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Hoy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  <c:pt idx="6">
                    <c:v>Q6</c:v>
                  </c:pt>
                  <c:pt idx="7">
                    <c:v>Q7</c:v>
                  </c:pt>
                  <c:pt idx="8">
                    <c:v>Q8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0.5</c:v>
                </c:pt>
                <c:pt idx="4">
                  <c:v>0.5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Evolución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Hoy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  <c:pt idx="6">
                    <c:v>Q6</c:v>
                  </c:pt>
                  <c:pt idx="7">
                    <c:v>Q7</c:v>
                  </c:pt>
                  <c:pt idx="8">
                    <c:v>Q8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Libre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Hoy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  <c:pt idx="6">
                    <c:v>Q6</c:v>
                  </c:pt>
                  <c:pt idx="7">
                    <c:v>Q7</c:v>
                  </c:pt>
                  <c:pt idx="8">
                    <c:v>Q8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6.04</c:v>
                </c:pt>
                <c:pt idx="1">
                  <c:v>2.76</c:v>
                </c:pt>
                <c:pt idx="2">
                  <c:v>2.47</c:v>
                </c:pt>
                <c:pt idx="3">
                  <c:v>2.69</c:v>
                </c:pt>
                <c:pt idx="4">
                  <c:v>3.41</c:v>
                </c:pt>
                <c:pt idx="5">
                  <c:v>3.63</c:v>
                </c:pt>
                <c:pt idx="6">
                  <c:v>4.34</c:v>
                </c:pt>
                <c:pt idx="7">
                  <c:v>4.06</c:v>
                </c:pt>
                <c:pt idx="8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Capacidad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para planificar y entender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real de un equipo de desarrollo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· Proyecto ModeloDeCapacidad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todos vivimos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crece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entregado suma componentes que deben ser mantenidos.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 escala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cambios normativos y mejoras consumen capacidad en forma creciente.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se erosiona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trimestre, menos FTEs quedan disponibles para generar nuevo valor.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sobre este fenómeno, la planificación de proyectos parte de una premisa incorrecta.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queremos responder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capacidad real tiene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para generar valor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próximos trimestres?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 el crecimiento del BAU, la calidad del software y los proyectos en cartera.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BAU: el costo oculto del éxito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 (BAU)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esfuerzo que el equipo dedica a mantener el software ya en producción: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Corrección de bugs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normativos y regulatorios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Soporte y estabilización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Deuda técnica acumulada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 valor nuevo, pero es ineludible.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2062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modelo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 = Componentes × Factor × Modificador_calidad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se calibra con datos históricos reales del equipo.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de calidad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sube BAU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sube BAU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baja BAU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modelo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" cy="3566160"/>
          </a:xfrm>
          <a:prstGeom prst="rect">
            <a:avLst/>
          </a:prstGeom>
          <a:solidFill>
            <a:srgbClr val="2D5FA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Cantidad de Programadores, Testers y Analistas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671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Complejidad, deuda técnica, cobertura de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8254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Componentes iniciales + crecimiento trimestral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838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Proyectos en cartera (FTEs, duración, componentes entregados)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1422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BAU % actual conocido del equipo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54864" cy="3566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Deriva el factor BAU desde datos reales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671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 BAU por trimestre a medida que el portfolio crece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8254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Asigna capacidad por prioridad: Normativo → Estratégico → Evolución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4838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Detecta déficit y puntos de inflexión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54864" cy="3566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Distribución trimestral de capacidad en FTE y 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1671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Gráfico de evolución por vertical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8254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% BAU con umbrales de alerta (50%) y crítico (70%)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4838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 escenarios: Optimista · Base · Pesimista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escenarios, una misma realidad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BAU se calibra con datos reales del equipo. Los escenarios modelan cómo varía la calidad del software a futuro.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74320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  ×0.70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calidad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aumenta la cobertura de tests y reduce la deuda técnica activamente. El BAU crece más lentamente a medida que se suman componentes.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×1.00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55848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estable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software se mantiene en los niveles actuales. El BAU crece al ritmo calibrado con la experiencia real del equipo.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7432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Pesimista  ×1.40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36208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de calidad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deuda técnica se acumula y la cobertura baja. El BAU crece más rápido, consumiendo capacidad que podría destinarse a proyectos de valor.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concreto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equipo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prog + 3 testers + 1 analista = 10 FTE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componentes en producción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94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569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 ·  Deuda técnica: 3/5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387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medido hoy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538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del equipo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comp/trim.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por trimestre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206240" y="10058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decisiones habilita el modelo?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realista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la capacidad disponible para nuevos proyectos trimestre a trimestre, sin sobrestimar.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49240" y="1143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con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15270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cómo el BAU compite con los proyectos Normativos, Estratégicos y de Evolución.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riesgo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529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trimestre en que el BAU supera el 50% o 70% antes de que se convierta en un problema.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invertir en calidad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8529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cuánta capacidad se recupera si se mejora la cobertura de tests o se reduce la deuda técnica.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la cartera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1788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Argumentar con números por qué ciertos proyectos no caben en un trimestre dado.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70332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9240" y="3794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del equipo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41788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cuántos FTEs adicionales se necesitan para mantener la capacidad de generación de valor.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24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con datos reales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ingresa su BAU % medido hoy. El modelo deriva el factor automáticamente.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5943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la cartera de proyectos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los proyectos planificados con FTEs, trimestre de inicio, duración y componentes a entregar.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5943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449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escenarios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Base vs. Optimista para cuantificar el beneficio de invertir en calidad.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943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0050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en cada ciclo de planificación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3616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los parámetros y la cartera al inicio de cada trimestre para mantener el modelo vivo.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predice el futuro.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visible lo que ya está pasando.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Capacidad · Link · makelabuni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Capacidad</dc:title>
  <dc:subject>PptxGenJS Presentation</dc:subject>
  <dc:creator>PptxGenJS</dc:creator>
  <cp:lastModifiedBy>PptxGenJS</cp:lastModifiedBy>
  <cp:revision>1</cp:revision>
  <dcterms:created xsi:type="dcterms:W3CDTF">2026-06-07T22:32:00Z</dcterms:created>
  <dcterms:modified xsi:type="dcterms:W3CDTF">2026-06-07T22:32:00Z</dcterms:modified>
</cp:coreProperties>
</file>